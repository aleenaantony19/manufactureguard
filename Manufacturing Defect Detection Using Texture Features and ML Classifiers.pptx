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Nyutro Sans" panose="020B0604020202020204" charset="0"/>
      <p:regular r:id="rId19"/>
    </p:embeddedFont>
    <p:embeddedFont>
      <p:font typeface="Sego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-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28064" y="537727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1675" y="6460536"/>
            <a:ext cx="16230600" cy="4037362"/>
          </a:xfrm>
          <a:custGeom>
            <a:avLst/>
            <a:gdLst/>
            <a:ahLst/>
            <a:cxnLst/>
            <a:rect l="l" t="t" r="r" b="b"/>
            <a:pathLst>
              <a:path w="16230600" h="4037362">
                <a:moveTo>
                  <a:pt x="0" y="0"/>
                </a:moveTo>
                <a:lnTo>
                  <a:pt x="16230600" y="0"/>
                </a:lnTo>
                <a:lnTo>
                  <a:pt x="16230600" y="4037362"/>
                </a:lnTo>
                <a:lnTo>
                  <a:pt x="0" y="4037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2905706" y="-1561569"/>
            <a:ext cx="16230600" cy="4037362"/>
          </a:xfrm>
          <a:custGeom>
            <a:avLst/>
            <a:gdLst/>
            <a:ahLst/>
            <a:cxnLst/>
            <a:rect l="l" t="t" r="r" b="b"/>
            <a:pathLst>
              <a:path w="16230600" h="4037362">
                <a:moveTo>
                  <a:pt x="0" y="0"/>
                </a:moveTo>
                <a:lnTo>
                  <a:pt x="16230600" y="0"/>
                </a:lnTo>
                <a:lnTo>
                  <a:pt x="16230600" y="4037361"/>
                </a:lnTo>
                <a:lnTo>
                  <a:pt x="0" y="4037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260813" y="-8452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242966" y="3394075"/>
            <a:ext cx="14149309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6000" b="1" dirty="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Manufacturing Defect Detection Using Texture Features and ML Classifiers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29352" y="6080199"/>
            <a:ext cx="4262923" cy="2247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dirty="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Aleena Antony</a:t>
            </a:r>
          </a:p>
          <a:p>
            <a:pPr algn="ctr">
              <a:lnSpc>
                <a:spcPts val="6440"/>
              </a:lnSpc>
            </a:pPr>
            <a:r>
              <a:rPr lang="en-US" sz="4600" dirty="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Ardra VS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dirty="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Nakshathra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07764" y="1028700"/>
            <a:ext cx="16230600" cy="8229600"/>
            <a:chOff x="0" y="0"/>
            <a:chExt cx="4274726" cy="21674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8FCFF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921618" y="4189843"/>
            <a:ext cx="10444764" cy="514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0"/>
              </a:lnSpc>
            </a:pPr>
            <a:endParaRPr dirty="0"/>
          </a:p>
          <a:p>
            <a:pPr marL="647702" lvl="1" indent="-323851" algn="ctr">
              <a:lnSpc>
                <a:spcPts val="4530"/>
              </a:lnSpc>
              <a:buFont typeface="Arial"/>
              <a:buChar char="•"/>
            </a:pPr>
            <a:r>
              <a:rPr lang="en-US" sz="30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Manual inspection is time-consuming and error-prone</a:t>
            </a:r>
          </a:p>
          <a:p>
            <a:pPr marL="647702" lvl="1" indent="-323851" algn="ctr">
              <a:lnSpc>
                <a:spcPts val="4530"/>
              </a:lnSpc>
              <a:buFont typeface="Arial"/>
              <a:buChar char="•"/>
            </a:pPr>
            <a:r>
              <a:rPr lang="en-US" sz="30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Inconsistent detection of surface defects</a:t>
            </a:r>
          </a:p>
          <a:p>
            <a:pPr marL="647702" lvl="1" indent="-323851" algn="ctr">
              <a:lnSpc>
                <a:spcPts val="4530"/>
              </a:lnSpc>
              <a:buFont typeface="Arial"/>
              <a:buChar char="•"/>
            </a:pPr>
            <a:r>
              <a:rPr lang="en-US" sz="30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Lack of automated, reliable defect detection systems</a:t>
            </a:r>
          </a:p>
          <a:p>
            <a:pPr marL="647702" lvl="1" indent="-323851" algn="ctr">
              <a:lnSpc>
                <a:spcPts val="4530"/>
              </a:lnSpc>
              <a:buFont typeface="Arial"/>
              <a:buChar char="•"/>
            </a:pPr>
            <a:r>
              <a:rPr lang="en-US" sz="30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Need for a scalable and efficient solution</a:t>
            </a:r>
          </a:p>
          <a:p>
            <a:pPr marL="647702" lvl="1" indent="-323851" algn="ctr">
              <a:lnSpc>
                <a:spcPts val="4530"/>
              </a:lnSpc>
              <a:buFont typeface="Arial"/>
              <a:buChar char="•"/>
            </a:pPr>
            <a:r>
              <a:rPr lang="en-US" sz="30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Focuses on automating defect detection in industrial products</a:t>
            </a:r>
          </a:p>
          <a:p>
            <a:pPr marL="647702" lvl="1" indent="-323851" algn="ctr">
              <a:lnSpc>
                <a:spcPts val="4530"/>
              </a:lnSpc>
              <a:buFont typeface="Arial"/>
              <a:buChar char="•"/>
            </a:pPr>
            <a:endParaRPr lang="en-US" sz="3000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  <a:p>
            <a:pPr algn="ctr">
              <a:lnSpc>
                <a:spcPts val="4530"/>
              </a:lnSpc>
            </a:pPr>
            <a:endParaRPr lang="en-US" sz="3000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539196" y="1236380"/>
            <a:ext cx="9209608" cy="314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dirty="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4F2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539196" y="1720299"/>
            <a:ext cx="920960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Objective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12770" y="4126872"/>
            <a:ext cx="11010900" cy="2320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ctr">
              <a:lnSpc>
                <a:spcPts val="453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Build a system to classify images as defective or non-defective</a:t>
            </a:r>
          </a:p>
          <a:p>
            <a:pPr marL="647702" lvl="1" indent="-323851" algn="ctr">
              <a:lnSpc>
                <a:spcPts val="453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Use texture-based feature extraction techniques</a:t>
            </a:r>
          </a:p>
          <a:p>
            <a:pPr marL="647702" lvl="1" indent="-323851" algn="ctr">
              <a:lnSpc>
                <a:spcPts val="453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Apply machine learning models (no deep learning)</a:t>
            </a:r>
          </a:p>
          <a:p>
            <a:pPr marL="647702" lvl="1" indent="-323851" algn="ctr">
              <a:lnSpc>
                <a:spcPts val="453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Evaluate performance using standard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4F2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094991" y="3632063"/>
            <a:ext cx="4652895" cy="4652895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541020" y="537210"/>
              <a:ext cx="5255260" cy="5255260"/>
            </a:xfrm>
            <a:custGeom>
              <a:avLst/>
              <a:gdLst/>
              <a:ahLst/>
              <a:cxnLst/>
              <a:rect l="l" t="t" r="r" b="b"/>
              <a:pathLst>
                <a:path w="5255260" h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5"/>
              <a:stretch>
                <a:fillRect l="-43457" r="-43457"/>
              </a:stretch>
            </a:blipFill>
            <a:ln w="38100" cap="sq">
              <a:solidFill>
                <a:srgbClr val="6D869A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2185807" y="3367696"/>
            <a:ext cx="7491593" cy="3369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775"/>
              </a:lnSpc>
            </a:pPr>
            <a:endParaRPr dirty="0"/>
          </a:p>
          <a:p>
            <a:pPr marL="539754" lvl="1" indent="-269877" algn="just">
              <a:lnSpc>
                <a:spcPts val="3775"/>
              </a:lnSpc>
              <a:buFont typeface="Arial"/>
              <a:buChar char="•"/>
            </a:pPr>
            <a:r>
              <a:rPr lang="en-US" sz="25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Used NEU Surface Defect Dataset</a:t>
            </a:r>
          </a:p>
          <a:p>
            <a:pPr marL="539754" lvl="1" indent="-269877" algn="just">
              <a:lnSpc>
                <a:spcPts val="3775"/>
              </a:lnSpc>
              <a:buFont typeface="Arial"/>
              <a:buChar char="•"/>
            </a:pPr>
            <a:r>
              <a:rPr lang="en-US" sz="25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Contains:</a:t>
            </a:r>
          </a:p>
          <a:p>
            <a:pPr marL="1079509" lvl="2" indent="-359836" algn="just">
              <a:lnSpc>
                <a:spcPts val="3775"/>
              </a:lnSpc>
              <a:buFont typeface="Arial"/>
              <a:buChar char="⚬"/>
            </a:pPr>
            <a:r>
              <a:rPr lang="en-US" sz="25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Normal (non-defective) images</a:t>
            </a:r>
          </a:p>
          <a:p>
            <a:pPr marL="1079509" lvl="2" indent="-359836" algn="just">
              <a:lnSpc>
                <a:spcPts val="3775"/>
              </a:lnSpc>
              <a:buFont typeface="Arial"/>
              <a:buChar char="⚬"/>
            </a:pPr>
            <a:r>
              <a:rPr lang="en-US" sz="25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Multiple defect types (scratches, cracks, etc.)</a:t>
            </a:r>
          </a:p>
          <a:p>
            <a:pPr marL="539754" lvl="1" indent="-269877" algn="just">
              <a:lnSpc>
                <a:spcPts val="3775"/>
              </a:lnSpc>
              <a:buFont typeface="Arial"/>
              <a:buChar char="•"/>
            </a:pPr>
            <a:r>
              <a:rPr lang="en-US" sz="25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Industrial-quality images for real-world relevance</a:t>
            </a:r>
          </a:p>
          <a:p>
            <a:pPr algn="just">
              <a:lnSpc>
                <a:spcPts val="3775"/>
              </a:lnSpc>
            </a:pPr>
            <a:endParaRPr lang="en-US" sz="2500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39196" y="1368754"/>
            <a:ext cx="920960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14400" y="1005828"/>
            <a:ext cx="16230600" cy="8229600"/>
            <a:chOff x="0" y="0"/>
            <a:chExt cx="4274726" cy="21674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4F2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810312" y="1866900"/>
            <a:ext cx="11466599" cy="1211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dirty="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Methodology 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77121" y="3945987"/>
            <a:ext cx="7329972" cy="3991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l">
              <a:lnSpc>
                <a:spcPts val="4530"/>
              </a:lnSpc>
              <a:buFont typeface="+mj-lt"/>
              <a:buAutoNum type="arabicPeriod"/>
            </a:pPr>
            <a:r>
              <a:rPr lang="en-US" sz="3000" u="none" strike="noStrike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Data Collection</a:t>
            </a:r>
          </a:p>
          <a:p>
            <a:pPr marL="514350" indent="-514350" algn="l">
              <a:lnSpc>
                <a:spcPts val="4530"/>
              </a:lnSpc>
              <a:buFont typeface="+mj-lt"/>
              <a:buAutoNum type="arabicPeriod"/>
            </a:pPr>
            <a:r>
              <a:rPr lang="en-US" sz="3000" u="none" strike="noStrike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Image Preprocessing</a:t>
            </a:r>
          </a:p>
          <a:p>
            <a:pPr marL="514350" indent="-514350" algn="l">
              <a:lnSpc>
                <a:spcPts val="4530"/>
              </a:lnSpc>
              <a:buFont typeface="+mj-lt"/>
              <a:buAutoNum type="arabicPeriod"/>
            </a:pPr>
            <a:r>
              <a:rPr lang="en-US" sz="3000" u="none" strike="noStrike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Feature Extraction (LBP, GLCM, Gabor)</a:t>
            </a:r>
          </a:p>
          <a:p>
            <a:pPr marL="514350" indent="-514350" algn="l">
              <a:lnSpc>
                <a:spcPts val="4530"/>
              </a:lnSpc>
              <a:buFont typeface="+mj-lt"/>
              <a:buAutoNum type="arabicPeriod"/>
            </a:pPr>
            <a:r>
              <a:rPr lang="en-US" sz="3000" u="none" strike="noStrike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Feature Concatenation</a:t>
            </a:r>
          </a:p>
          <a:p>
            <a:pPr marL="514350" indent="-514350" algn="l">
              <a:lnSpc>
                <a:spcPts val="4530"/>
              </a:lnSpc>
              <a:buFont typeface="+mj-lt"/>
              <a:buAutoNum type="arabicPeriod"/>
            </a:pPr>
            <a:r>
              <a:rPr lang="en-US" sz="3000" u="none" strike="noStrike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Feature Selection</a:t>
            </a:r>
          </a:p>
          <a:p>
            <a:pPr marL="514350" indent="-514350" algn="l">
              <a:lnSpc>
                <a:spcPts val="4530"/>
              </a:lnSpc>
              <a:buFont typeface="+mj-lt"/>
              <a:buAutoNum type="arabicPeriod"/>
            </a:pPr>
            <a:r>
              <a:rPr lang="en-US" sz="3000" u="none" strike="noStrike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Model Training</a:t>
            </a:r>
          </a:p>
          <a:p>
            <a:pPr marL="514350" indent="-514350" algn="l">
              <a:lnSpc>
                <a:spcPts val="4530"/>
              </a:lnSpc>
              <a:buFont typeface="+mj-lt"/>
              <a:buAutoNum type="arabicPeriod"/>
            </a:pPr>
            <a:r>
              <a:rPr lang="en-US" sz="3000" u="none" strike="noStrike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4F2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236376" y="3794928"/>
            <a:ext cx="9967079" cy="4164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just">
              <a:lnSpc>
                <a:spcPts val="4680"/>
              </a:lnSpc>
              <a:buFont typeface="Arial"/>
              <a:buChar char="•"/>
            </a:pPr>
            <a:r>
              <a:rPr lang="en-US" sz="3099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Local Binary Pattern (LBP)</a:t>
            </a:r>
          </a:p>
          <a:p>
            <a:pPr marL="669289" lvl="1" indent="-334645" algn="just">
              <a:lnSpc>
                <a:spcPts val="4680"/>
              </a:lnSpc>
              <a:buFont typeface="Arial"/>
              <a:buChar char="•"/>
            </a:pPr>
            <a:r>
              <a:rPr lang="en-US" sz="3099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Captures local texture patterns</a:t>
            </a:r>
          </a:p>
          <a:p>
            <a:pPr marL="669289" lvl="1" indent="-334645" algn="just">
              <a:lnSpc>
                <a:spcPts val="4680"/>
              </a:lnSpc>
              <a:buFont typeface="Arial"/>
              <a:buChar char="•"/>
            </a:pPr>
            <a:r>
              <a:rPr lang="en-US" sz="3099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Converts pixel neighborhoods into binary values</a:t>
            </a:r>
          </a:p>
          <a:p>
            <a:pPr marL="669289" lvl="1" indent="-334645" algn="just">
              <a:lnSpc>
                <a:spcPts val="4680"/>
              </a:lnSpc>
              <a:buFont typeface="Arial"/>
              <a:buChar char="•"/>
            </a:pPr>
            <a:r>
              <a:rPr lang="en-US" sz="3099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Advantages:</a:t>
            </a:r>
          </a:p>
          <a:p>
            <a:pPr marL="1338579" lvl="2" indent="-446193" algn="just">
              <a:lnSpc>
                <a:spcPts val="4680"/>
              </a:lnSpc>
              <a:buFont typeface="Arial"/>
              <a:buChar char="⚬"/>
            </a:pPr>
            <a:r>
              <a:rPr lang="en-US" sz="3099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Simple and fast</a:t>
            </a:r>
          </a:p>
          <a:p>
            <a:pPr marL="1338579" lvl="2" indent="-446193" algn="just">
              <a:lnSpc>
                <a:spcPts val="4680"/>
              </a:lnSpc>
              <a:buFont typeface="Arial"/>
              <a:buChar char="⚬"/>
            </a:pPr>
            <a:r>
              <a:rPr lang="en-US" sz="3099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Robust to illumination changes</a:t>
            </a:r>
          </a:p>
          <a:p>
            <a:pPr algn="just">
              <a:lnSpc>
                <a:spcPts val="4680"/>
              </a:lnSpc>
            </a:pPr>
            <a:endParaRPr lang="en-US" sz="3099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590800" y="1597085"/>
            <a:ext cx="12594525" cy="1370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66"/>
              </a:lnSpc>
            </a:pPr>
            <a:r>
              <a:rPr lang="en-US" sz="8190" dirty="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Feature Extraction – LBP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4F2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897186" y="3420602"/>
            <a:ext cx="10730257" cy="4164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just">
              <a:lnSpc>
                <a:spcPts val="4680"/>
              </a:lnSpc>
              <a:buFont typeface="Arial"/>
              <a:buChar char="•"/>
            </a:pPr>
            <a:r>
              <a:rPr lang="en-US" sz="30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Gray Level Co-occurrence Matrix (GLCM)</a:t>
            </a:r>
          </a:p>
          <a:p>
            <a:pPr marL="669289" lvl="1" indent="-334645" algn="just">
              <a:lnSpc>
                <a:spcPts val="4680"/>
              </a:lnSpc>
              <a:buFont typeface="Arial"/>
              <a:buChar char="•"/>
            </a:pPr>
            <a:r>
              <a:rPr lang="en-US" sz="30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Extracts statistical texture features:</a:t>
            </a:r>
          </a:p>
          <a:p>
            <a:pPr marL="669289" lvl="1" indent="-334645" algn="just">
              <a:lnSpc>
                <a:spcPts val="4680"/>
              </a:lnSpc>
              <a:buFont typeface="Arial"/>
              <a:buChar char="•"/>
            </a:pPr>
            <a:r>
              <a:rPr lang="en-US" sz="30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Energy (uniformity)</a:t>
            </a:r>
          </a:p>
          <a:p>
            <a:pPr marL="669289" lvl="1" indent="-334645" algn="just">
              <a:lnSpc>
                <a:spcPts val="4680"/>
              </a:lnSpc>
              <a:buFont typeface="Arial"/>
              <a:buChar char="•"/>
            </a:pPr>
            <a:r>
              <a:rPr lang="en-US" sz="30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Contrast (intensity variation)</a:t>
            </a:r>
          </a:p>
          <a:p>
            <a:pPr marL="669289" lvl="1" indent="-334645" algn="just">
              <a:lnSpc>
                <a:spcPts val="4680"/>
              </a:lnSpc>
              <a:buFont typeface="Arial"/>
              <a:buChar char="•"/>
            </a:pPr>
            <a:r>
              <a:rPr lang="en-US" sz="30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Entropy (randomness)</a:t>
            </a:r>
          </a:p>
          <a:p>
            <a:pPr marL="669289" lvl="1" indent="-334645" algn="just">
              <a:lnSpc>
                <a:spcPts val="4680"/>
              </a:lnSpc>
              <a:buFont typeface="Arial"/>
              <a:buChar char="•"/>
            </a:pPr>
            <a:r>
              <a:rPr lang="en-US" sz="30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Homogeneity (smoothness)</a:t>
            </a:r>
          </a:p>
          <a:p>
            <a:pPr algn="just">
              <a:lnSpc>
                <a:spcPts val="4680"/>
              </a:lnSpc>
            </a:pPr>
            <a:endParaRPr lang="en-US" sz="3099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1295110"/>
            <a:ext cx="16266367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Feature Extraction – GLCM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4F2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319805" y="3991242"/>
            <a:ext cx="12004704" cy="415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5468" lvl="1" indent="-387734" algn="ctr">
              <a:lnSpc>
                <a:spcPts val="5423"/>
              </a:lnSpc>
              <a:buFont typeface="Arial"/>
              <a:buChar char="•"/>
            </a:pPr>
            <a:r>
              <a:rPr lang="en-US" sz="3591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Captures frequency and orientation information</a:t>
            </a:r>
          </a:p>
          <a:p>
            <a:pPr marL="775468" lvl="1" indent="-387734" algn="ctr">
              <a:lnSpc>
                <a:spcPts val="5423"/>
              </a:lnSpc>
              <a:buFont typeface="Arial"/>
              <a:buChar char="•"/>
            </a:pPr>
            <a:r>
              <a:rPr lang="en-US" sz="3591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Applied at:</a:t>
            </a:r>
          </a:p>
          <a:p>
            <a:pPr marL="1550937" lvl="2" indent="-516979" algn="ctr">
              <a:lnSpc>
                <a:spcPts val="5423"/>
              </a:lnSpc>
              <a:buFont typeface="Arial"/>
              <a:buChar char="⚬"/>
            </a:pPr>
            <a:r>
              <a:rPr lang="en-US" sz="3591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Multiple scales</a:t>
            </a:r>
          </a:p>
          <a:p>
            <a:pPr marL="1550937" lvl="2" indent="-516979" algn="ctr">
              <a:lnSpc>
                <a:spcPts val="5423"/>
              </a:lnSpc>
              <a:buFont typeface="Arial"/>
              <a:buChar char="⚬"/>
            </a:pPr>
            <a:r>
              <a:rPr lang="en-US" sz="3591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Multiple orientations</a:t>
            </a:r>
          </a:p>
          <a:p>
            <a:pPr marL="775468" lvl="1" indent="-387734" algn="ctr">
              <a:lnSpc>
                <a:spcPts val="5423"/>
              </a:lnSpc>
              <a:buFont typeface="Arial"/>
              <a:buChar char="•"/>
            </a:pPr>
            <a:r>
              <a:rPr lang="en-US" sz="3591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Effective for detecting directional textures</a:t>
            </a:r>
          </a:p>
          <a:p>
            <a:pPr algn="ctr">
              <a:lnSpc>
                <a:spcPts val="5423"/>
              </a:lnSpc>
            </a:pPr>
            <a:endParaRPr lang="en-US" sz="3591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1180810"/>
            <a:ext cx="16451353" cy="1387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 Feature Extraction – Gabor Filters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05828"/>
            <a:ext cx="16230600" cy="8229600"/>
            <a:chOff x="0" y="0"/>
            <a:chExt cx="4274726" cy="21674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4F2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715001" y="3420602"/>
            <a:ext cx="10609509" cy="5345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91" lvl="1" indent="-334646" algn="l">
              <a:lnSpc>
                <a:spcPts val="4681"/>
              </a:lnSpc>
              <a:buFont typeface="Arial"/>
              <a:buChar char="•"/>
            </a:pPr>
            <a:r>
              <a:rPr lang="en-US" sz="31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Combine:</a:t>
            </a:r>
          </a:p>
          <a:p>
            <a:pPr marL="791845" lvl="1" indent="-457200" algn="l">
              <a:lnSpc>
                <a:spcPts val="4681"/>
              </a:lnSpc>
              <a:buFont typeface="Wingdings" panose="05000000000000000000" pitchFamily="2" charset="2"/>
              <a:buChar char="§"/>
            </a:pPr>
            <a:r>
              <a:rPr lang="en-US" sz="31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LBP features</a:t>
            </a:r>
          </a:p>
          <a:p>
            <a:pPr marL="791845" lvl="1" indent="-457200" algn="l">
              <a:lnSpc>
                <a:spcPts val="4681"/>
              </a:lnSpc>
              <a:buFont typeface="Wingdings" panose="05000000000000000000" pitchFamily="2" charset="2"/>
              <a:buChar char="§"/>
            </a:pPr>
            <a:r>
              <a:rPr lang="en-US" sz="31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GLCM features</a:t>
            </a:r>
          </a:p>
          <a:p>
            <a:pPr marL="791845" lvl="1" indent="-457200" algn="l">
              <a:lnSpc>
                <a:spcPts val="4681"/>
              </a:lnSpc>
              <a:buFont typeface="Wingdings" panose="05000000000000000000" pitchFamily="2" charset="2"/>
              <a:buChar char="§"/>
            </a:pPr>
            <a:r>
              <a:rPr lang="en-US" sz="31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Gabor features</a:t>
            </a:r>
          </a:p>
          <a:p>
            <a:pPr marL="669291" lvl="1" indent="-334646" algn="l">
              <a:lnSpc>
                <a:spcPts val="4681"/>
              </a:lnSpc>
              <a:buFont typeface="Arial"/>
              <a:buChar char="•"/>
            </a:pPr>
            <a:r>
              <a:rPr lang="en-US" sz="31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Create a single feature vector</a:t>
            </a:r>
          </a:p>
          <a:p>
            <a:pPr marL="669291" lvl="1" indent="-334646" algn="l">
              <a:lnSpc>
                <a:spcPts val="4681"/>
              </a:lnSpc>
              <a:buFont typeface="Arial"/>
              <a:buChar char="•"/>
            </a:pPr>
            <a:r>
              <a:rPr lang="en-US" sz="31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Apply feature selection to:</a:t>
            </a:r>
          </a:p>
          <a:p>
            <a:pPr marL="669291" lvl="1" indent="-334646" algn="l">
              <a:lnSpc>
                <a:spcPts val="4681"/>
              </a:lnSpc>
              <a:buFont typeface="Arial"/>
              <a:buChar char="•"/>
            </a:pPr>
            <a:r>
              <a:rPr lang="en-US" sz="31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Reduce dimensionality</a:t>
            </a:r>
          </a:p>
          <a:p>
            <a:pPr marL="669291" lvl="1" indent="-334646" algn="l">
              <a:lnSpc>
                <a:spcPts val="4681"/>
              </a:lnSpc>
              <a:buFont typeface="Arial"/>
              <a:buChar char="•"/>
            </a:pPr>
            <a:r>
              <a:rPr lang="en-US" sz="31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Improve model performance</a:t>
            </a:r>
          </a:p>
          <a:p>
            <a:pPr algn="l">
              <a:lnSpc>
                <a:spcPts val="4681"/>
              </a:lnSpc>
            </a:pPr>
            <a:endParaRPr lang="en-US" sz="3100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248405" y="1723188"/>
            <a:ext cx="11640470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dirty="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 Feature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4F2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39907" y="2853231"/>
            <a:ext cx="16519393" cy="6578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81"/>
              </a:lnSpc>
            </a:pPr>
            <a:endParaRPr dirty="0"/>
          </a:p>
          <a:p>
            <a:pPr marL="669291" lvl="1" indent="-334646" algn="ctr">
              <a:lnSpc>
                <a:spcPts val="4681"/>
              </a:lnSpc>
              <a:buFont typeface="Arial"/>
              <a:buChar char="•"/>
            </a:pPr>
            <a:r>
              <a:rPr lang="en-US" sz="3100" b="1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Support Vector Machine (SVM)-  </a:t>
            </a:r>
            <a:r>
              <a:rPr lang="en-US" sz="31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Its a powerful classifier that works by finding the optimal hyperplane that maximizes the margin between different classes in a high-dimensional feature space.</a:t>
            </a:r>
          </a:p>
          <a:p>
            <a:pPr marL="669291" lvl="1" indent="-334646" algn="ctr">
              <a:lnSpc>
                <a:spcPts val="4681"/>
              </a:lnSpc>
              <a:buFont typeface="Arial"/>
              <a:buChar char="•"/>
            </a:pPr>
            <a:r>
              <a:rPr lang="en-US" sz="3100" b="1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Random Forest - </a:t>
            </a:r>
            <a:r>
              <a:rPr lang="en-US" sz="31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is an ensemble learning method that constructs a multitude of decision trees during training and outputs the class that is the mode of the classes of the individual trees.</a:t>
            </a:r>
          </a:p>
          <a:p>
            <a:pPr marL="669291" lvl="1" indent="-334646" algn="ctr">
              <a:lnSpc>
                <a:spcPts val="4681"/>
              </a:lnSpc>
              <a:buFont typeface="Arial"/>
              <a:buChar char="•"/>
            </a:pPr>
            <a:r>
              <a:rPr lang="en-US" sz="3100" b="1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Gradient Boosting</a:t>
            </a:r>
            <a:r>
              <a:rPr lang="en-US" sz="31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- is another ensemble technique, but unlike Random Forest, it builds trees sequentially, where each new tree attempts to correct the errors made by the previous ones.</a:t>
            </a:r>
          </a:p>
          <a:p>
            <a:pPr algn="ctr">
              <a:lnSpc>
                <a:spcPts val="4681"/>
              </a:lnSpc>
            </a:pPr>
            <a:endParaRPr lang="en-US" sz="3100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442520" y="1222300"/>
            <a:ext cx="11470875" cy="121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dirty="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 </a:t>
            </a:r>
            <a:r>
              <a:rPr lang="en-US" sz="7200" dirty="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Machine Learning Models</a:t>
            </a:r>
            <a:endParaRPr lang="en-US" sz="9000" dirty="0">
              <a:solidFill>
                <a:srgbClr val="161B1C"/>
              </a:solidFill>
              <a:latin typeface="Sego"/>
              <a:ea typeface="Sego"/>
              <a:cs typeface="Sego"/>
              <a:sym typeface="Seg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7243" y="978052"/>
            <a:ext cx="16230600" cy="8229600"/>
            <a:chOff x="0" y="0"/>
            <a:chExt cx="4274726" cy="21674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4F2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994989" y="2444832"/>
            <a:ext cx="10361019" cy="4164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1"/>
              </a:lnSpc>
            </a:pPr>
            <a:endParaRPr dirty="0"/>
          </a:p>
          <a:p>
            <a:pPr marL="669291" lvl="1" indent="-334646">
              <a:lnSpc>
                <a:spcPts val="4681"/>
              </a:lnSpc>
              <a:buFont typeface="Arial"/>
              <a:buChar char="•"/>
            </a:pPr>
            <a:r>
              <a:rPr lang="en-US" sz="3100" dirty="0">
                <a:latin typeface="Nyutro Sans"/>
                <a:ea typeface="Nyutro Sans"/>
                <a:cs typeface="Nyutro Sans"/>
                <a:sym typeface="Nyutro Sans"/>
              </a:rPr>
              <a:t>Accuracy – </a:t>
            </a:r>
            <a:r>
              <a:rPr lang="en-US" sz="3100" dirty="0">
                <a:latin typeface="Nyutro Sans" panose="020B0604020202020204" charset="0"/>
                <a:cs typeface="Nyutro Sans" panose="020B0604020202020204" charset="0"/>
              </a:rPr>
              <a:t>Percentage of correctly classified samples.</a:t>
            </a:r>
            <a:endParaRPr lang="en-US" sz="3100" dirty="0">
              <a:latin typeface="Nyutro Sans" panose="020B0604020202020204" charset="0"/>
              <a:ea typeface="Nyutro Sans"/>
              <a:cs typeface="Nyutro Sans" panose="020B0604020202020204" charset="0"/>
              <a:sym typeface="Nyutro Sans"/>
            </a:endParaRPr>
          </a:p>
          <a:p>
            <a:pPr marL="669291" lvl="1" indent="-334646">
              <a:lnSpc>
                <a:spcPts val="4681"/>
              </a:lnSpc>
              <a:buFont typeface="Arial"/>
              <a:buChar char="•"/>
            </a:pPr>
            <a:r>
              <a:rPr lang="en-US" sz="3100" dirty="0">
                <a:latin typeface="Nyutro Sans"/>
                <a:ea typeface="Nyutro Sans"/>
                <a:cs typeface="Nyutro Sans"/>
                <a:sym typeface="Nyutro Sans"/>
              </a:rPr>
              <a:t>Precision – Correct defect predictions</a:t>
            </a:r>
          </a:p>
          <a:p>
            <a:pPr marL="669291" lvl="1" indent="-334646">
              <a:lnSpc>
                <a:spcPts val="4681"/>
              </a:lnSpc>
              <a:buFont typeface="Arial"/>
              <a:buChar char="•"/>
            </a:pPr>
            <a:r>
              <a:rPr lang="en-US" sz="3100" dirty="0">
                <a:latin typeface="Nyutro Sans"/>
                <a:ea typeface="Nyutro Sans"/>
                <a:cs typeface="Nyutro Sans"/>
                <a:sym typeface="Nyutro Sans"/>
              </a:rPr>
              <a:t>Recall –     Ability to detect defects</a:t>
            </a:r>
          </a:p>
          <a:p>
            <a:pPr marL="669291" lvl="1" indent="-334646">
              <a:lnSpc>
                <a:spcPts val="4681"/>
              </a:lnSpc>
              <a:buFont typeface="Arial"/>
              <a:buChar char="•"/>
            </a:pPr>
            <a:r>
              <a:rPr lang="en-US" sz="3100" dirty="0">
                <a:latin typeface="Nyutro Sans"/>
                <a:ea typeface="Nyutro Sans"/>
                <a:cs typeface="Nyutro Sans"/>
                <a:sym typeface="Nyutro Sans"/>
              </a:rPr>
              <a:t>ROC-AUC Curve – Model performance across thresholds</a:t>
            </a:r>
          </a:p>
          <a:p>
            <a:pPr marL="669291" lvl="1" indent="-334646">
              <a:lnSpc>
                <a:spcPts val="4681"/>
              </a:lnSpc>
              <a:buFont typeface="Arial"/>
              <a:buChar char="•"/>
            </a:pPr>
            <a:r>
              <a:rPr lang="en-US" sz="3100" dirty="0">
                <a:latin typeface="Nyutro Sans"/>
                <a:ea typeface="Nyutro Sans"/>
                <a:cs typeface="Nyutro Sans"/>
                <a:sym typeface="Nyutro Sans"/>
              </a:rPr>
              <a:t>Precision-Recall Curve – Important for imbalance</a:t>
            </a:r>
          </a:p>
          <a:p>
            <a:pPr algn="ctr">
              <a:lnSpc>
                <a:spcPts val="4681"/>
              </a:lnSpc>
            </a:pPr>
            <a:endParaRPr lang="en-US" sz="3100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407105" y="1395369"/>
            <a:ext cx="11470875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dirty="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Evaluation Metrics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BD7019-AC2B-8B9F-EB7B-7EACCF7DEA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414" y="6194200"/>
            <a:ext cx="11975171" cy="27031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4F2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965493" y="3752385"/>
            <a:ext cx="10361019" cy="2983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91" lvl="1" indent="-334646">
              <a:lnSpc>
                <a:spcPts val="4681"/>
              </a:lnSpc>
              <a:buFont typeface="Arial"/>
              <a:buChar char="•"/>
            </a:pPr>
            <a:r>
              <a:rPr lang="en-US" sz="31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SVM Accuracy: 98%</a:t>
            </a:r>
          </a:p>
          <a:p>
            <a:pPr marL="669291" lvl="1" indent="-334646">
              <a:lnSpc>
                <a:spcPts val="4681"/>
              </a:lnSpc>
              <a:buFont typeface="Arial"/>
              <a:buChar char="•"/>
            </a:pPr>
            <a:r>
              <a:rPr lang="en-US" sz="31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Random Forest Accuracy: 96.6%</a:t>
            </a:r>
          </a:p>
          <a:p>
            <a:pPr marL="669291" lvl="1" indent="-334646">
              <a:lnSpc>
                <a:spcPts val="4681"/>
              </a:lnSpc>
              <a:buFont typeface="Arial"/>
              <a:buChar char="•"/>
            </a:pPr>
            <a:r>
              <a:rPr lang="en-US" sz="31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Gradient Boosting Accuracy: 96.2%</a:t>
            </a:r>
          </a:p>
          <a:p>
            <a:pPr marL="669291" lvl="1" indent="-334646">
              <a:lnSpc>
                <a:spcPts val="4681"/>
              </a:lnSpc>
              <a:buFont typeface="Arial"/>
              <a:buChar char="•"/>
            </a:pPr>
            <a:r>
              <a:rPr lang="en-US" sz="3100" dirty="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Best Model: SVM</a:t>
            </a:r>
          </a:p>
          <a:p>
            <a:pPr algn="ctr">
              <a:lnSpc>
                <a:spcPts val="4681"/>
              </a:lnSpc>
            </a:pPr>
            <a:endParaRPr lang="en-US" sz="3100" dirty="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410564" y="1746126"/>
            <a:ext cx="11470875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Results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95849" y="217105"/>
            <a:ext cx="11096303" cy="10069895"/>
          </a:xfrm>
          <a:custGeom>
            <a:avLst/>
            <a:gdLst/>
            <a:ahLst/>
            <a:cxnLst/>
            <a:rect l="l" t="t" r="r" b="b"/>
            <a:pathLst>
              <a:path w="11096303" h="10069895">
                <a:moveTo>
                  <a:pt x="0" y="0"/>
                </a:moveTo>
                <a:lnTo>
                  <a:pt x="11096302" y="0"/>
                </a:lnTo>
                <a:lnTo>
                  <a:pt x="11096302" y="10069895"/>
                </a:lnTo>
                <a:lnTo>
                  <a:pt x="0" y="10069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23852" y="315465"/>
            <a:ext cx="10824557" cy="9823286"/>
          </a:xfrm>
          <a:custGeom>
            <a:avLst/>
            <a:gdLst/>
            <a:ahLst/>
            <a:cxnLst/>
            <a:rect l="l" t="t" r="r" b="b"/>
            <a:pathLst>
              <a:path w="10824557" h="9823286">
                <a:moveTo>
                  <a:pt x="0" y="0"/>
                </a:moveTo>
                <a:lnTo>
                  <a:pt x="10824557" y="0"/>
                </a:lnTo>
                <a:lnTo>
                  <a:pt x="10824557" y="9823286"/>
                </a:lnTo>
                <a:lnTo>
                  <a:pt x="0" y="98232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47620" y="337035"/>
            <a:ext cx="10808917" cy="9809092"/>
          </a:xfrm>
          <a:custGeom>
            <a:avLst/>
            <a:gdLst/>
            <a:ahLst/>
            <a:cxnLst/>
            <a:rect l="l" t="t" r="r" b="b"/>
            <a:pathLst>
              <a:path w="10808917" h="9809092">
                <a:moveTo>
                  <a:pt x="0" y="0"/>
                </a:moveTo>
                <a:lnTo>
                  <a:pt x="10808917" y="0"/>
                </a:lnTo>
                <a:lnTo>
                  <a:pt x="10808917" y="9809092"/>
                </a:lnTo>
                <a:lnTo>
                  <a:pt x="0" y="980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-3306107" y="569411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0153" y="-4342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3994907" y="2627353"/>
            <a:ext cx="7603204" cy="1891297"/>
          </a:xfrm>
          <a:custGeom>
            <a:avLst/>
            <a:gdLst/>
            <a:ahLst/>
            <a:cxnLst/>
            <a:rect l="l" t="t" r="r" b="b"/>
            <a:pathLst>
              <a:path w="7603204" h="1891297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324509" y="5585433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4F2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965493" y="3420602"/>
            <a:ext cx="10361019" cy="5345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91" lvl="1" indent="-334646" algn="ctr">
              <a:lnSpc>
                <a:spcPts val="4681"/>
              </a:lnSpc>
              <a:buFont typeface="Arial"/>
              <a:buChar char="•"/>
            </a:pPr>
            <a:endParaRPr/>
          </a:p>
          <a:p>
            <a:pPr marL="669291" lvl="1" indent="-334646" algn="ctr">
              <a:lnSpc>
                <a:spcPts val="4681"/>
              </a:lnSpc>
              <a:buFont typeface="Arial"/>
              <a:buChar char="•"/>
            </a:pPr>
            <a:r>
              <a:rPr lang="en-US" sz="31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Traditional ML can effectively detect defects</a:t>
            </a:r>
          </a:p>
          <a:p>
            <a:pPr marL="669291" lvl="1" indent="-334646" algn="ctr">
              <a:lnSpc>
                <a:spcPts val="4681"/>
              </a:lnSpc>
              <a:buFont typeface="Arial"/>
              <a:buChar char="•"/>
            </a:pPr>
            <a:r>
              <a:rPr lang="en-US" sz="31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No need for deep learning in some cases</a:t>
            </a:r>
          </a:p>
          <a:p>
            <a:pPr marL="669291" lvl="1" indent="-334646" algn="ctr">
              <a:lnSpc>
                <a:spcPts val="4681"/>
              </a:lnSpc>
              <a:buFont typeface="Arial"/>
              <a:buChar char="•"/>
            </a:pPr>
            <a:r>
              <a:rPr lang="en-US" sz="31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Texture features are powerful for surface inspection</a:t>
            </a:r>
          </a:p>
          <a:p>
            <a:pPr marL="669291" lvl="1" indent="-334646" algn="ctr">
              <a:lnSpc>
                <a:spcPts val="4681"/>
              </a:lnSpc>
              <a:buFont typeface="Arial"/>
              <a:buChar char="•"/>
            </a:pPr>
            <a:r>
              <a:rPr lang="en-US" sz="31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System is:</a:t>
            </a:r>
          </a:p>
          <a:p>
            <a:pPr marL="669291" lvl="1" indent="-334646" algn="ctr">
              <a:lnSpc>
                <a:spcPts val="4681"/>
              </a:lnSpc>
              <a:buFont typeface="Arial"/>
              <a:buChar char="•"/>
            </a:pPr>
            <a:r>
              <a:rPr lang="en-US" sz="31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Fast</a:t>
            </a:r>
          </a:p>
          <a:p>
            <a:pPr marL="669291" lvl="1" indent="-334646" algn="ctr">
              <a:lnSpc>
                <a:spcPts val="4681"/>
              </a:lnSpc>
              <a:buFont typeface="Arial"/>
              <a:buChar char="•"/>
            </a:pPr>
            <a:r>
              <a:rPr lang="en-US" sz="31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Cost-effective</a:t>
            </a:r>
          </a:p>
          <a:p>
            <a:pPr marL="669291" lvl="1" indent="-334646" algn="ctr">
              <a:lnSpc>
                <a:spcPts val="4681"/>
              </a:lnSpc>
              <a:buFont typeface="Arial"/>
              <a:buChar char="•"/>
            </a:pPr>
            <a:r>
              <a:rPr lang="en-US" sz="31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Interpretable</a:t>
            </a:r>
          </a:p>
          <a:p>
            <a:pPr algn="ctr">
              <a:lnSpc>
                <a:spcPts val="4681"/>
              </a:lnSpc>
            </a:pPr>
            <a:endParaRPr lang="en-US" sz="3100">
              <a:solidFill>
                <a:srgbClr val="161B1C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410564" y="1746126"/>
            <a:ext cx="11470875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Conclusion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28064" y="5377270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08719" y="7786423"/>
            <a:ext cx="16230600" cy="4037362"/>
          </a:xfrm>
          <a:custGeom>
            <a:avLst/>
            <a:gdLst/>
            <a:ahLst/>
            <a:cxnLst/>
            <a:rect l="l" t="t" r="r" b="b"/>
            <a:pathLst>
              <a:path w="16230600" h="4037362">
                <a:moveTo>
                  <a:pt x="0" y="0"/>
                </a:moveTo>
                <a:lnTo>
                  <a:pt x="16230600" y="0"/>
                </a:lnTo>
                <a:lnTo>
                  <a:pt x="16230600" y="4037362"/>
                </a:lnTo>
                <a:lnTo>
                  <a:pt x="0" y="4037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2905706" y="-1561569"/>
            <a:ext cx="16230600" cy="4037362"/>
          </a:xfrm>
          <a:custGeom>
            <a:avLst/>
            <a:gdLst/>
            <a:ahLst/>
            <a:cxnLst/>
            <a:rect l="l" t="t" r="r" b="b"/>
            <a:pathLst>
              <a:path w="16230600" h="4037362">
                <a:moveTo>
                  <a:pt x="0" y="0"/>
                </a:moveTo>
                <a:lnTo>
                  <a:pt x="16230600" y="0"/>
                </a:lnTo>
                <a:lnTo>
                  <a:pt x="16230600" y="4037361"/>
                </a:lnTo>
                <a:lnTo>
                  <a:pt x="0" y="4037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260813" y="-84522"/>
            <a:ext cx="4262923" cy="5120628"/>
          </a:xfrm>
          <a:custGeom>
            <a:avLst/>
            <a:gdLst/>
            <a:ahLst/>
            <a:cxnLst/>
            <a:rect l="l" t="t" r="r" b="b"/>
            <a:pathLst>
              <a:path w="4262923" h="5120628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069346" y="3453911"/>
            <a:ext cx="14149309" cy="3036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96"/>
              </a:lnSpc>
            </a:pPr>
            <a:r>
              <a:rPr lang="en-US" sz="17711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427</Words>
  <Application>Microsoft Office PowerPoint</Application>
  <PresentationFormat>Custom</PresentationFormat>
  <Paragraphs>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Wingdings</vt:lpstr>
      <vt:lpstr>Calibri</vt:lpstr>
      <vt:lpstr>Sego</vt:lpstr>
      <vt:lpstr>Nyutro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Manufacturing Defect Detection Using Texture Features and ML Classifiers</dc:title>
  <dc:creator>Nakshathra V</dc:creator>
  <cp:lastModifiedBy>vat.aleena19@gmail.com</cp:lastModifiedBy>
  <cp:revision>6</cp:revision>
  <dcterms:created xsi:type="dcterms:W3CDTF">2006-08-16T00:00:00Z</dcterms:created>
  <dcterms:modified xsi:type="dcterms:W3CDTF">2026-05-05T05:48:45Z</dcterms:modified>
  <dc:identifier>DAHIHD-LQ0M</dc:identifier>
</cp:coreProperties>
</file>